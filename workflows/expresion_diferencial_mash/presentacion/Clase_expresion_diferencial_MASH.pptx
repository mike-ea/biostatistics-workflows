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b90cbbc4a542b2" /><Relationship Type="http://schemas.openxmlformats.org/officeDocument/2006/relationships/extended-properties" Target="/docProps/app.xml" Id="Rec2123faa2ab4a76" /><Relationship Type="http://schemas.openxmlformats.org/officeDocument/2006/relationships/officeDocument" Target="/ppt/presentation.xml" Id="R893b98f633a642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9d87953734c04"/>
  </p:sldMasterIdLst>
  <p:notesMasterIdLst>
    <p:notesMasterId xmlns:r="http://schemas.openxmlformats.org/officeDocument/2006/relationships" r:id="Ra404a467a0754520"/>
  </p:notesMasterIdLst>
  <p:sldIdLst>
    <p:sldId xmlns:r="http://schemas.openxmlformats.org/officeDocument/2006/relationships" id="256" r:id="R68104432e1024639"/>
    <p:sldId xmlns:r="http://schemas.openxmlformats.org/officeDocument/2006/relationships" id="257" r:id="Ra842fefe14294940"/>
    <p:sldId xmlns:r="http://schemas.openxmlformats.org/officeDocument/2006/relationships" id="258" r:id="R13299a6c99cb46a3"/>
    <p:sldId xmlns:r="http://schemas.openxmlformats.org/officeDocument/2006/relationships" id="259" r:id="R34e230633ade4401"/>
    <p:sldId xmlns:r="http://schemas.openxmlformats.org/officeDocument/2006/relationships" id="260" r:id="R63154de166004174"/>
    <p:sldId xmlns:r="http://schemas.openxmlformats.org/officeDocument/2006/relationships" id="261" r:id="R5c382521acc94966"/>
    <p:sldId xmlns:r="http://schemas.openxmlformats.org/officeDocument/2006/relationships" id="262" r:id="R6ddaf1d1f9994966"/>
    <p:sldId xmlns:r="http://schemas.openxmlformats.org/officeDocument/2006/relationships" id="263" r:id="Rf88c773e5867461c"/>
    <p:sldId xmlns:r="http://schemas.openxmlformats.org/officeDocument/2006/relationships" id="264" r:id="R2205a92c37454255"/>
    <p:sldId xmlns:r="http://schemas.openxmlformats.org/officeDocument/2006/relationships" id="265" r:id="R1f7e3ec7d94249a8"/>
    <p:sldId xmlns:r="http://schemas.openxmlformats.org/officeDocument/2006/relationships" id="266" r:id="R51edf5825fee4132"/>
    <p:sldId xmlns:r="http://schemas.openxmlformats.org/officeDocument/2006/relationships" id="267" r:id="R0a8af613bf8c4716"/>
    <p:sldId xmlns:r="http://schemas.openxmlformats.org/officeDocument/2006/relationships" id="268" r:id="R33338c705737446a"/>
    <p:sldId xmlns:r="http://schemas.openxmlformats.org/officeDocument/2006/relationships" id="269" r:id="R643035f329f44e8b"/>
    <p:sldId xmlns:r="http://schemas.openxmlformats.org/officeDocument/2006/relationships" id="270" r:id="R5fa652e7074f4793"/>
    <p:sldId xmlns:r="http://schemas.openxmlformats.org/officeDocument/2006/relationships" id="271" r:id="R4e0d5d8155a64c28"/>
    <p:sldId xmlns:r="http://schemas.openxmlformats.org/officeDocument/2006/relationships" id="272" r:id="R6f7efc98dbb849e3"/>
    <p:sldId xmlns:r="http://schemas.openxmlformats.org/officeDocument/2006/relationships" id="273" r:id="Rf91b128b264b42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3d409fe0f64b76" /><Relationship Type="http://schemas.openxmlformats.org/officeDocument/2006/relationships/slideMaster" Target="/ppt/slideMasters/slideMaster1.xml" Id="R9cb9d87953734c04" /><Relationship Type="http://schemas.openxmlformats.org/officeDocument/2006/relationships/notesMaster" Target="/ppt/notesMasters/notesMaster1.xml" Id="Ra404a467a0754520" /><Relationship Type="http://schemas.openxmlformats.org/officeDocument/2006/relationships/presProps" Target="/ppt/presProps.xml" Id="Rbc80ca0651f24f3b" /><Relationship Type="http://schemas.openxmlformats.org/officeDocument/2006/relationships/tableStyles" Target="/ppt/tableStyles.xml" Id="Rdc98de37300f4600" /><Relationship Type="http://schemas.openxmlformats.org/officeDocument/2006/relationships/slide" Target="/ppt/slides/slide1.xml" Id="R68104432e1024639" /><Relationship Type="http://schemas.openxmlformats.org/officeDocument/2006/relationships/slide" Target="/ppt/slides/slide2.xml" Id="Ra842fefe14294940" /><Relationship Type="http://schemas.openxmlformats.org/officeDocument/2006/relationships/slide" Target="/ppt/slides/slide3.xml" Id="R13299a6c99cb46a3" /><Relationship Type="http://schemas.openxmlformats.org/officeDocument/2006/relationships/slide" Target="/ppt/slides/slide4.xml" Id="R34e230633ade4401" /><Relationship Type="http://schemas.openxmlformats.org/officeDocument/2006/relationships/slide" Target="/ppt/slides/slide5.xml" Id="R63154de166004174" /><Relationship Type="http://schemas.openxmlformats.org/officeDocument/2006/relationships/slide" Target="/ppt/slides/slide6.xml" Id="R5c382521acc94966" /><Relationship Type="http://schemas.openxmlformats.org/officeDocument/2006/relationships/slide" Target="/ppt/slides/slide7.xml" Id="R6ddaf1d1f9994966" /><Relationship Type="http://schemas.openxmlformats.org/officeDocument/2006/relationships/slide" Target="/ppt/slides/slide8.xml" Id="Rf88c773e5867461c" /><Relationship Type="http://schemas.openxmlformats.org/officeDocument/2006/relationships/slide" Target="/ppt/slides/slide9.xml" Id="R2205a92c37454255" /><Relationship Type="http://schemas.openxmlformats.org/officeDocument/2006/relationships/slide" Target="/ppt/slides/slide10.xml" Id="R1f7e3ec7d94249a8" /><Relationship Type="http://schemas.openxmlformats.org/officeDocument/2006/relationships/slide" Target="/ppt/slides/slide11.xml" Id="R51edf5825fee4132" /><Relationship Type="http://schemas.openxmlformats.org/officeDocument/2006/relationships/slide" Target="/ppt/slides/slide12.xml" Id="R0a8af613bf8c4716" /><Relationship Type="http://schemas.openxmlformats.org/officeDocument/2006/relationships/slide" Target="/ppt/slides/slide13.xml" Id="R33338c705737446a" /><Relationship Type="http://schemas.openxmlformats.org/officeDocument/2006/relationships/slide" Target="/ppt/slides/slide14.xml" Id="R643035f329f44e8b" /><Relationship Type="http://schemas.openxmlformats.org/officeDocument/2006/relationships/slide" Target="/ppt/slides/slide15.xml" Id="R5fa652e7074f4793" /><Relationship Type="http://schemas.openxmlformats.org/officeDocument/2006/relationships/slide" Target="/ppt/slides/slide16.xml" Id="R4e0d5d8155a64c28" /><Relationship Type="http://schemas.openxmlformats.org/officeDocument/2006/relationships/slide" Target="/ppt/slides/slide17.xml" Id="R6f7efc98dbb849e3" /><Relationship Type="http://schemas.openxmlformats.org/officeDocument/2006/relationships/slide" Target="/ppt/slides/slide18.xml" Id="Rf91b128b264b42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16b3cb970846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06c621167e4d7f" /><Relationship Type="http://schemas.openxmlformats.org/officeDocument/2006/relationships/notesMaster" Target="/ppt/notesMasters/notesMaster1.xml" Id="R91e5e7c3c00f44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0d1c850eda4706" /><Relationship Type="http://schemas.openxmlformats.org/officeDocument/2006/relationships/notesMaster" Target="/ppt/notesMasters/notesMaster1.xml" Id="R803b9b6329c741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e6a10301d34ef8" /><Relationship Type="http://schemas.openxmlformats.org/officeDocument/2006/relationships/notesMaster" Target="/ppt/notesMasters/notesMaster1.xml" Id="R5c915ebc83ea40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83631536234261" /><Relationship Type="http://schemas.openxmlformats.org/officeDocument/2006/relationships/notesMaster" Target="/ppt/notesMasters/notesMaster1.xml" Id="R911c6f0edbde4f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9186535c7b42e6" /><Relationship Type="http://schemas.openxmlformats.org/officeDocument/2006/relationships/notesMaster" Target="/ppt/notesMasters/notesMaster1.xml" Id="R025fb07def434f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1d57d17cde455d" /><Relationship Type="http://schemas.openxmlformats.org/officeDocument/2006/relationships/notesMaster" Target="/ppt/notesMasters/notesMaster1.xml" Id="R88d4d15ca8d549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3b495b0f424151" /><Relationship Type="http://schemas.openxmlformats.org/officeDocument/2006/relationships/notesMaster" Target="/ppt/notesMasters/notesMaster1.xml" Id="Rdb7bba8e01d143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b153acfe50440a" /><Relationship Type="http://schemas.openxmlformats.org/officeDocument/2006/relationships/notesMaster" Target="/ppt/notesMasters/notesMaster1.xml" Id="R7040b070982541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f90dfd60414514" /><Relationship Type="http://schemas.openxmlformats.org/officeDocument/2006/relationships/notesMaster" Target="/ppt/notesMasters/notesMaster1.xml" Id="R22675a50244f4f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bc14102aca428d" /><Relationship Type="http://schemas.openxmlformats.org/officeDocument/2006/relationships/notesMaster" Target="/ppt/notesMasters/notesMaster1.xml" Id="R3999e7137e6044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6d76cd071a4f4a" /><Relationship Type="http://schemas.openxmlformats.org/officeDocument/2006/relationships/notesMaster" Target="/ppt/notesMasters/notesMaster1.xml" Id="R0e955c456cf143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33cfc855474f80" /><Relationship Type="http://schemas.openxmlformats.org/officeDocument/2006/relationships/notesMaster" Target="/ppt/notesMasters/notesMaster1.xml" Id="R6d24f177cffd4d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e81e7971af41f8" /><Relationship Type="http://schemas.openxmlformats.org/officeDocument/2006/relationships/notesMaster" Target="/ppt/notesMasters/notesMaster1.xml" Id="R0f45f651440148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de464d3db9436e" /><Relationship Type="http://schemas.openxmlformats.org/officeDocument/2006/relationships/notesMaster" Target="/ppt/notesMasters/notesMaster1.xml" Id="Rc8b497661eed49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3fff3e18594d9b" /><Relationship Type="http://schemas.openxmlformats.org/officeDocument/2006/relationships/notesMaster" Target="/ppt/notesMasters/notesMaster1.xml" Id="R67131a72354f42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6583635a0a4879" /><Relationship Type="http://schemas.openxmlformats.org/officeDocument/2006/relationships/notesMaster" Target="/ppt/notesMasters/notesMaster1.xml" Id="R23f3276714064a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5d66e137474165" /><Relationship Type="http://schemas.openxmlformats.org/officeDocument/2006/relationships/notesMaster" Target="/ppt/notesMasters/notesMaster1.xml" Id="R9af32a7c87c44f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032d4f4ba44e3c" /><Relationship Type="http://schemas.openxmlformats.org/officeDocument/2006/relationships/notesMaster" Target="/ppt/notesMasters/notesMaster1.xml" Id="Rbb703b068e6a4f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Abra recordando la última pregunta de la clase teórica: qué genes y programas cambian coordinadamente en el tejido enfermo.</a:t>
            </a:r>
          </a:p>
          <a:p xmlns:a="http://schemas.openxmlformats.org/drawingml/2006/main">
            <a:r>
              <a:t>• Explique que hoy el objetivo no es memorizar comandos. El objetivo es enlazar una pregunta biológica, un contraste estadístico y una interpretación prudente.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https://www.ncbi.nlm.nih.gov/geo/query/acc.cgi?acc=GSE126848</a:t>
            </a:r>
          </a:p>
          <a:p xmlns:a="http://schemas.openxmlformats.org/drawingml/2006/main">
            <a:r>
              <a:t>- https://doi.org/10.1152/ajpgi.00358.2018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Pida a los estudiantes que nombren un gen o una vía esperada para cada programa. Anote las hipótesis antes de mostrar resultados.</a:t>
            </a:r>
          </a:p>
          <a:p xmlns:a="http://schemas.openxmlformats.org/drawingml/2006/main">
            <a:r>
              <a:t>• Diferencie una hipótesis dirigida de un análisis global. La tabla final contiene todos los genes evaluados, no sólo los conocidos.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https://doi.org/10.1152/ajpgi.00358.2018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esta diapositiva como mapa. Cada paso responde una pregunta distinta y deja un objeto que puede auditarse.</a:t>
            </a:r>
          </a:p>
          <a:p xmlns:a="http://schemas.openxmlformats.org/drawingml/2006/main">
            <a:r>
              <a:t>• Insista en que una figura sin contraste explícito o sin tabla completa no permite reconstruir el análisis.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estudio original incluyó 57 biopsias. El contraste docente usa 12 controles con obesidad e histología normal y 16 casos NASH.</a:t>
            </a:r>
          </a:p>
          <a:p xmlns:a="http://schemas.openxmlformats.org/drawingml/2006/main">
            <a:r>
              <a:t>• Conserve NASH al describir la clasificación original. Explique su relación histórica con MASH, sin afirmar una reclasificación retrospectiva exacta.</a:t>
            </a:r>
          </a:p>
          <a:p xmlns:a="http://schemas.openxmlformats.org/drawingml/2006/main">
            <a:r>
              <a:t>• La elección del control ayuda a separar la lesión hepática del efecto general de obesidad, pero no elimina todos los factores de confusión.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https://www.ncbi.nlm.nih.gov/geo/query/acc.cgi?acc=GSE126848</a:t>
            </a:r>
          </a:p>
          <a:p xmlns:a="http://schemas.openxmlformats.org/drawingml/2006/main">
            <a:r>
              <a:t>- https://doi.org/10.1152/ajpgi.00358.2018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Pregunte cuál es la unidad experimental. Aquí es la biopsia de una persona, no cada gen ni cada lectura.</a:t>
            </a:r>
          </a:p>
          <a:p xmlns:a="http://schemas.openxmlformats.org/drawingml/2006/main">
            <a:r>
              <a:t>• Los conteos son enteros crudos. Los metadatos definen el contraste y cualquier covariable que entre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https://www.ncbi.nlm.nih.gov/geo/query/acc.cgi?acc=GSE126848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Diferencie instalación de carga. install.packages o BiocManager se ejecutan una vez por biblioteca, library se ejecuta en cada sesión.</a:t>
            </a:r>
          </a:p>
          <a:p xmlns:a="http://schemas.openxmlformats.org/drawingml/2006/main">
            <a:r>
              <a:t>• Si el aula tiene conectividad limitada, instale y pruebe todo antes de la clase.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  <a:p xmlns:a="http://schemas.openxmlformats.org/drawingml/2006/main">
            <a:r>
              <a:t>- https://bioconductor.org/packages/EnhancedVolcano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Muestre que una permutación silenciosa asignaría grupos incorrectos a muestras reales. El código puede correr y producir una respuesta totalmente falsa.</a:t>
            </a:r>
          </a:p>
          <a:p xmlns:a="http://schemas.openxmlformats.org/drawingml/2006/main">
            <a:r>
              <a:t>• El script reordena metadata con match y después exige identical. Si la condición falla, el análisis se detiene.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tamaño de biblioteca es la suma de conteos asignados. Sirve para detectar extremos, no para excluir automáticamente muestras.</a:t>
            </a:r>
          </a:p>
          <a:p xmlns:a="http://schemas.openxmlformats.org/drawingml/2006/main">
            <a:r>
              <a:t>• DESeq2 calcula factores de tamaño. Antes de modelar, también deben revisarse identidad, duplicados y metadatos faltantes.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Los genes casi ausentes aportan poca potencia y aumentan el número de pruebas. El umbral elegido es didáctico y explícito.</a:t>
            </a:r>
          </a:p>
          <a:p xmlns:a="http://schemas.openxmlformats.org/drawingml/2006/main">
            <a:r>
              <a:t>• El filtrado usa los conteos, no el resultado final. Nunca filtre por fold change esperado o por una lista de genes favoritos.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DESeq2 modela conteos con una distribución binomial negativa. La dispersión permite que la varianza sea mayor que la media.</a:t>
            </a:r>
          </a:p>
          <a:p xmlns:a="http://schemas.openxmlformats.org/drawingml/2006/main">
            <a:r>
              <a:t>• La normalización no convierte cada gen a porcentajes. Estima factores de tamaño entre bibliotecas y conserva la estructura de conteos para 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La transformación VST reduce la dependencia entre media y varianza para visualización. No es la entrada del test de DESeq2.</a:t>
            </a:r>
          </a:p>
          <a:p xmlns:a="http://schemas.openxmlformats.org/drawingml/2006/main">
            <a:r>
              <a:t>• Pida que busquen separación, dispersión interna y muestras alejadas. Evite convertir una separación visual en una prueba formal.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Haga que el grupo escriba el contraste en palabras antes de mirar el código. El numerador menos la referencia determina el signo.</a:t>
            </a:r>
          </a:p>
          <a:p xmlns:a="http://schemas.openxmlformats.org/drawingml/2006/main">
            <a:r>
              <a:t>• Un log2FC de 1 equivale a duplicación. Un log2FC de menos 1 equivale a la mitad, no a una reducción de uno por ciento.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Con miles de pruebas, algunos valores p pequeños aparecen por azar. El procedimiento de Benjamini y Hochberg controla la tasa esperada de falsos descubrimientos entre los hallazgos.</a:t>
            </a:r>
          </a:p>
          <a:p xmlns:a="http://schemas.openxmlformats.org/drawingml/2006/main">
            <a:r>
              <a:t>• padj menor de 0.05 no significa que un gen tenga 95 por ciento de probabilidad de ser verdadero. Es una regla de decisión a nivel del conjunto de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https://doi.org/10.1111/j.2517-6161.1995.tb02031.x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blog compartido enseña correctamente los ingredientes mínimos del volcano: identificador, log2FC y valor p ajustado. Esta práctica añade el modelo que produce esos valores.</a:t>
            </a:r>
          </a:p>
          <a:p xmlns:a="http://schemas.openxmlformats.org/drawingml/2006/main">
            <a:r>
              <a:t>• El gráfico muestra efecto y evidencia. La relevancia biológica requiere contexto, coherencia de vías y validación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https://medium.com/@putri.a.purwono/making-a-simple-volcano-plot-to-visualize-differentially-expressed-genes-degs-from-rnaseq-data-df505e99411a</a:t>
            </a:r>
          </a:p>
          <a:p xmlns:a="http://schemas.openxmlformats.org/drawingml/2006/main">
            <a:r>
              <a:t>- https://bioconductor.org/packages/EnhancedVolcano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Las cifras corresponden a padj menor de 0.05 y valor absoluto de log2FC al menos 1, después del filtrado y la contracción de efecto.</a:t>
            </a:r>
          </a:p>
          <a:p xmlns:a="http://schemas.openxmlformats.org/drawingml/2006/main">
            <a:r>
              <a:t>• Invite a describir primero la forma global. Después seleccione genes para investigar. No interprete cada etiqueta como causal.</a:t>
            </a:r>
          </a:p>
          <a:p xmlns:a="http://schemas.openxmlformats.org/drawingml/2006/main">
            <a:r>
              <a:t>• Observe que genes de identidad o abundancia celular pueden cambiar porque el tejido contiene proporciones celulares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https://www.ncbi.nlm.nih.gov/geo/query/acc.cgi?acc=GSE126848</a:t>
            </a:r>
          </a:p>
          <a:p xmlns:a="http://schemas.openxmlformats.org/drawingml/2006/main">
            <a:r>
              <a:t>- https://doi.org/10.1152/ajpgi.00358.2018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heatmap usa los 30 genes con menor padj y datos VST estandarizados por fila. El color indica desviación respecto a la media de ese gen.</a:t>
            </a:r>
          </a:p>
          <a:p xmlns:a="http://schemas.openxmlformats.org/drawingml/2006/main">
            <a:r>
              <a:t>• No compare rojo de un gen con rojo de otro como si fueran niveles absolutos. El z-score elimina la escala original de cada fila.</a:t>
            </a:r>
          </a:p>
          <a:p xmlns:a="http://schemas.openxmlformats.org/drawingml/2006/main">
            <a:r>
              <a:t>• El agrupamiento separa las muestras en este ejemplo, pero también muestra variación dentro de cada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estudio original señala firmas parcialmente solapadas y enfermedad de severidad relativamente baja. Los controles del análisis docente fueron varones, mientras el grupo NASH incluye ambos sexos.</a:t>
            </a:r>
          </a:p>
          <a:p xmlns:a="http://schemas.openxmlformats.org/drawingml/2006/main">
            <a:r>
              <a:t>• Un cambio de CD163, COL1A1 o un gen metabólico puede reflejar estado celular, proporción celular o ambas cosas. Se requieren otros experimentos para atribuir causalidad.</a:t>
            </a:r>
          </a:p>
          <a:p xmlns:a="http://schemas.openxmlformats.org/drawingml/2006/main">
            <a:r>
              <a:t>• Esta limitación no invalida el análisis. Define el alcance de la inferencia y motiva datos de célula única, proteómica o validación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https://doi.org/10.1152/ajpgi.00358.2018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La guía completa de tarea incluye entregables, preguntas, rúbrica y errores que invalidan el análisis.</a:t>
            </a:r>
          </a:p>
          <a:p xmlns:a="http://schemas.openxmlformats.org/drawingml/2006/main">
            <a:r>
              <a:t>• Antes de aprobar un dataset, confirme que contiene conteos crudos a nivel de gen, réplicas biológicas y metadatos que permitan reconstruir el contraste.</a:t>
            </a:r>
          </a:p>
          <a:p xmlns:a="http://schemas.openxmlformats.org/drawingml/2006/main">
            <a:r>
              <a:t>• Cierre conectando con la siguiente sesión: enriquecimiento de vías o análisis de composición celular.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7d01c40ad42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87b3ba5674a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1eda8ab1748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97a9572c14c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40923f97949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67e3f11c04b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D8B89C-C723-494E-BDE7-F22C0365AE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ECBF00-FEFF-496A-999D-476305FC9A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D21C92-F97F-4144-A4A3-70A14F328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D2DF91-9305-4A80-9950-1B6B34176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7E132F-3D60-43D4-A357-5C299B6E95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ACC6D1-99CA-4239-9B5D-BE058F5C99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EFE61B-D234-472C-86F9-3082043C34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6B831F-E35D-4EA1-8737-299E14BF91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A11BFB-C650-4A30-92E9-FE69D438C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AC1377-C2D3-4484-A79E-F22DCFB0F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084dd07289418e" /><Relationship Type="http://schemas.openxmlformats.org/officeDocument/2006/relationships/slideLayout" Target="/ppt/slideLayouts/slideLayout1.xml" Id="R60e6ac127168486d" /><Relationship Type="http://schemas.openxmlformats.org/officeDocument/2006/relationships/slideLayout" Target="/ppt/slideLayouts/slideLayout2.xml" Id="R6736f98cb9484b86" /><Relationship Type="http://schemas.openxmlformats.org/officeDocument/2006/relationships/slideLayout" Target="/ppt/slideLayouts/slideLayout3.xml" Id="R2153769873b84963" /><Relationship Type="http://schemas.openxmlformats.org/officeDocument/2006/relationships/slideLayout" Target="/ppt/slideLayouts/slideLayout4.xml" Id="R2acc0ce7b898473d" /><Relationship Type="http://schemas.openxmlformats.org/officeDocument/2006/relationships/slideLayout" Target="/ppt/slideLayouts/slideLayout5.xml" Id="Rbcfce815195d48fd" /><Relationship Type="http://schemas.openxmlformats.org/officeDocument/2006/relationships/slideLayout" Target="/ppt/slideLayouts/slideLayout6.xml" Id="Re3bc06941aee4d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e6ac127168486d"/>
    <p:sldLayoutId xmlns:r="http://schemas.openxmlformats.org/officeDocument/2006/relationships" id="2147483650" r:id="R6736f98cb9484b86"/>
    <p:sldLayoutId xmlns:r="http://schemas.openxmlformats.org/officeDocument/2006/relationships" id="2147483651" r:id="R2153769873b84963"/>
    <p:sldLayoutId xmlns:r="http://schemas.openxmlformats.org/officeDocument/2006/relationships" id="2147483652" r:id="R2acc0ce7b898473d"/>
    <p:sldLayoutId xmlns:r="http://schemas.openxmlformats.org/officeDocument/2006/relationships" id="2147483653" r:id="Rbcfce815195d48fd"/>
    <p:sldLayoutId xmlns:r="http://schemas.openxmlformats.org/officeDocument/2006/relationships" id="2147483654" r:id="Re3bc06941aee4d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aaddf7b924a46" /><Relationship Type="http://schemas.openxmlformats.org/officeDocument/2006/relationships/image" Target="/ppt/media/image.png" Id="Ra2b15f3234ef48a3" /><Relationship Type="http://schemas.openxmlformats.org/officeDocument/2006/relationships/notesSlide" Target="/ppt/notesSlides/notesSlide1.xml" Id="R60f82755ac3d43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bf86082e14c50" /><Relationship Type="http://schemas.openxmlformats.org/officeDocument/2006/relationships/notesSlide" Target="/ppt/notesSlides/notesSlide2.xml" Id="R8ee3a740ff084d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de1e72f6247b6" /><Relationship Type="http://schemas.openxmlformats.org/officeDocument/2006/relationships/notesSlide" Target="/ppt/notesSlides/notesSlide3.xml" Id="R8864e508cbd349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13a887e294cb4" /><Relationship Type="http://schemas.openxmlformats.org/officeDocument/2006/relationships/notesSlide" Target="/ppt/notesSlides/notesSlide4.xml" Id="Rac5c92cb2db342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df8cf62de43c8" /><Relationship Type="http://schemas.openxmlformats.org/officeDocument/2006/relationships/notesSlide" Target="/ppt/notesSlides/notesSlide5.xml" Id="R3bf45aad38fe4e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8d4371c1d48a7" /><Relationship Type="http://schemas.openxmlformats.org/officeDocument/2006/relationships/notesSlide" Target="/ppt/notesSlides/notesSlide6.xml" Id="Rb19ec91ac7d84d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53c51719043d8" /><Relationship Type="http://schemas.openxmlformats.org/officeDocument/2006/relationships/notesSlide" Target="/ppt/notesSlides/notesSlide7.xml" Id="Rfc796e0cddb64e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a6af2cd5f4428" /><Relationship Type="http://schemas.openxmlformats.org/officeDocument/2006/relationships/image" Target="/ppt/media/image2.png" Id="Rc0d0862b352d4e86" /><Relationship Type="http://schemas.openxmlformats.org/officeDocument/2006/relationships/notesSlide" Target="/ppt/notesSlides/notesSlide8.xml" Id="R127c2954e61844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56fe2e5fc4684" /><Relationship Type="http://schemas.openxmlformats.org/officeDocument/2006/relationships/notesSlide" Target="/ppt/notesSlides/notesSlide9.xml" Id="R60b8af765a5c4a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4f12a89b4439b" /><Relationship Type="http://schemas.openxmlformats.org/officeDocument/2006/relationships/notesSlide" Target="/ppt/notesSlides/notesSlide10.xml" Id="Reb1568df918644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453b5a8fc4f93" /><Relationship Type="http://schemas.openxmlformats.org/officeDocument/2006/relationships/image" Target="/ppt/media/image3.png" Id="Ra44388cc6b7e4b95" /><Relationship Type="http://schemas.openxmlformats.org/officeDocument/2006/relationships/notesSlide" Target="/ppt/notesSlides/notesSlide11.xml" Id="R71eff65025d14a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2aad0fec5482d" /><Relationship Type="http://schemas.openxmlformats.org/officeDocument/2006/relationships/notesSlide" Target="/ppt/notesSlides/notesSlide12.xml" Id="R82c4f344c5ed40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25b48255b42bc" /><Relationship Type="http://schemas.openxmlformats.org/officeDocument/2006/relationships/notesSlide" Target="/ppt/notesSlides/notesSlide13.xml" Id="R5587b11a66f744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fb145c3544a9c" /><Relationship Type="http://schemas.openxmlformats.org/officeDocument/2006/relationships/image" Target="/ppt/media/image4.png" Id="R3c2462edbd524d67" /><Relationship Type="http://schemas.openxmlformats.org/officeDocument/2006/relationships/notesSlide" Target="/ppt/notesSlides/notesSlide14.xml" Id="Rc49e34c856294e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caa8916b84de3" /><Relationship Type="http://schemas.openxmlformats.org/officeDocument/2006/relationships/image" Target="/ppt/media/image5.png" Id="R690c046852c544f2" /><Relationship Type="http://schemas.openxmlformats.org/officeDocument/2006/relationships/notesSlide" Target="/ppt/notesSlides/notesSlide15.xml" Id="Rafcc7726f2584a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370a497624e61" /><Relationship Type="http://schemas.openxmlformats.org/officeDocument/2006/relationships/image" Target="/ppt/media/image6.png" Id="R61efb437ebfc473d" /><Relationship Type="http://schemas.openxmlformats.org/officeDocument/2006/relationships/notesSlide" Target="/ppt/notesSlides/notesSlide16.xml" Id="R116988a7aa7d41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977ca196a4ec3" /><Relationship Type="http://schemas.openxmlformats.org/officeDocument/2006/relationships/notesSlide" Target="/ppt/notesSlides/notesSlide17.xml" Id="R8c9d42a1b93241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d3c336ff940d1" /><Relationship Type="http://schemas.openxmlformats.org/officeDocument/2006/relationships/notesSlide" Target="/ppt/notesSlides/notesSlide18.xml" Id="R09a1b087beb543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36A61-5A1C-423B-81CB-09265F06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A4B83-162E-4E4F-9E65-A8516784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PATOLOGÍA MOLECULAR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4C90-9A66-4AED-BB87-FC08ECCD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238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De la fisiopatología</a:t>
            </a:r>
          </a:p>
          <a:p xmlns:a="http://schemas.openxmlformats.org/drawingml/2006/main">
            <a:pPr algn="l">
              <a:defRPr sz="40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al transcriptoma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93ABF-D890-47D0-885F-39F2EC37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Expresión diferencial en MASH con 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54070-2463-4417-A184-889E2C25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Conteos humanos de hígado, DESeq2, volcano plot y heatmap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F2D1A-BEF8-42CC-BE97-D71D1DC3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562600" cy="58293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36391-1E2F-4BAD-9AB7-18ED885E8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15f3234ef48a3"/>
          <a:stretch xmlns:a="http://schemas.openxmlformats.org/drawingml/2006/main"/>
        </p:blipFill>
        <p:spPr>
          <a:xfrm xmlns:a="http://schemas.openxmlformats.org/drawingml/2006/main">
            <a:off x="6324600" y="1227667"/>
            <a:ext cx="5048250" cy="392641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A4BBF-788E-42FB-87B7-386080A4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5310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Datos reales, flujo reproducible</a:t>
            </a:r>
          </a:p>
        </p:txBody>
      </p:sp>
    </p:spTree>
    <p:extLst>
      <p:ext uri="{BB962C8B-B14F-4D97-AF65-F5344CB8AC3E}">
        <p14:creationId xmlns:p14="http://schemas.microsoft.com/office/powerpoint/2010/main" val="1541463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C8A62-AF97-4636-BFA8-0C752F0E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PUENTE CONCEPTUAL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4AB5D5F-4072-4562-B14B-909336E0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fisiopatología se convierte en hipótesis medibles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AFA73-8B00-41BA-9904-5E79C5D7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6407C-2D44-41E3-B982-C3BA389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5087D-3DB6-48F6-808C-5832D474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6E27E-7473-4C39-B53E-5FE877CD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C6350-C81B-4A57-842D-8625DB85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Metabolismo lipídico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A0635-6D81-4D61-B09D-F5D9C764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D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81B78-2D29-4312-8E4D-BC50E9EB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0C156-F8D9-425F-8937-7A6BAC29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0968B-69F8-4D19-968A-F5CBB76F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Estrés y lesión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1E490-E1BB-4E4A-81CC-6AF43CBC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0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97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8C5B6-4498-4ABB-82A8-4EB54AC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74613-8A71-49B4-AE69-144D507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118F8-C437-4977-A88C-34FC4601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Inflamación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D1C35-1279-4EF8-9059-7CD5424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3A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3C931-4378-4112-A59B-0A1C55A2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E3233-1D18-40CB-9C9F-C7ED934E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49BC7-BAE2-4308-8E44-42F83F13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Matriz y fibrosis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8792B-B0EE-4943-9F09-27A76E14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5C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74951-2054-43F2-9B24-34DE9C49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2573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4C417-E245-4F95-9D26-ED153E28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¿Qué cambia</a:t>
            </a:r>
          </a:p>
          <a:p xmlns:a="http://schemas.openxmlformats.org/drawingml/2006/main">
            <a:pPr algn="ctr">
              <a:defRPr sz="25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 el ARN?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11692-DDAE-44D8-9F82-9D83B03E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Genes individuales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8F371-5647-4A3F-AD22-2D748139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908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4D411-B47C-4F9E-83B4-4D2CC42D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04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Patrones coordinados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C3966D-45D4-4B94-9EEB-5B3547BC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520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La expresión diferencial detecta asociaciones en tejido total</a:t>
            </a:r>
          </a:p>
        </p:txBody>
      </p:sp>
    </p:spTree>
    <p:extLst>
      <p:ext uri="{BB962C8B-B14F-4D97-AF65-F5344CB8AC3E}">
        <p14:creationId xmlns:p14="http://schemas.microsoft.com/office/powerpoint/2010/main" val="679335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904267-CA18-4059-B9FE-7C911031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RUTA DE TRABAJO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0F33F47-406C-4D3E-B561-FE72D1D2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análisis conserva una cadena de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EA87E-3806-4F04-8B93-ACBDA860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11C9F-7E9B-4A2A-B335-79831841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4F29F-F17A-4764-998A-C8A3ACC4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4A316-9FD9-4057-A4D7-A2A53D9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65A3-FC9A-4C17-A45B-65621A13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Pregunta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470AE-E9BE-4B30-9482-1FDA461F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contraste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92E14-951C-44A4-9F20-CFEDDD6F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09D4E-986D-4456-84E1-FAC7E31F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E1D4A-2CCC-4764-ABBF-49B09A66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44D36-1E16-4135-8104-AC3A1C2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Conteos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9148D-185B-4103-ABB7-6295CD7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976D4-95AC-4FEC-9ADA-F322B89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2508D-595A-4D07-8006-7B2275BE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0485F-DB90-4668-81B6-BFB0348C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B83E5-4844-4F8C-85AD-8F2D74EC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Calidad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A0081-D206-4A8B-8BFD-D89029DD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filtro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E61B8-A5D3-46F2-954A-4CAD73E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2197E-C980-4DC2-A64F-14F81DA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4E0EC-7D92-44A2-8525-E75AD238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3BA56-E2B7-41DB-8F96-71F2DCC3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Modelo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14C4A-B9A5-492A-BB39-63037A66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DESeq2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8C59E4-6F4F-4AC3-9F36-C8C824F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04A8D-9115-4168-81B3-B793868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13D790-6609-413F-8031-AFE6BDE9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0E3D1-E39A-482A-8D6C-EA8A4AA0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Volcano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D82B9-E725-47F3-B62F-89F63AE8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efecto + evidencia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219A3-CBFB-4217-8C63-C7F09141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D70E0-D9B4-4370-850E-C9B03ACC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7E077B-15CA-4E40-A23A-BE6DEE24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A5A4E7-268A-412A-A09B-E5A5D8C1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Heatmap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ED1713-4BC3-4CA5-BD43-0C2AB01F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patrón entre muestras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787CA4-FED9-4661-98FE-7871660D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9601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29A6FE-1385-497D-BE57-30BB2085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Producto final: figura interpretable + tabla completa + registro de reproducibilidad</a:t>
            </a:r>
          </a:p>
        </p:txBody>
      </p:sp>
    </p:spTree>
    <p:extLst>
      <p:ext uri="{BB962C8B-B14F-4D97-AF65-F5344CB8AC3E}">
        <p14:creationId xmlns:p14="http://schemas.microsoft.com/office/powerpoint/2010/main" val="1701325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C80B9F-9E6A-4098-8DC4-95C9CBBF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DATASET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3A8376C-DD41-44C0-8BC7-98BFCE99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GSE126848 compara biopsias humanas a lo largo del espectro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B4C64-CD7A-4E8A-9E35-363E10A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1A671-EC55-4AFB-A207-662BCEB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87A31-60A6-4120-86D1-602EF7A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Cohorte original, n = 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1588B-C653-47E7-BEFB-235B7D7E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Peso normal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DD1D3-34B3-4A0C-A7EF-4A672CFD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66950"/>
            <a:ext cx="2933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28337-65DF-4FC3-8D25-3B03FECA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288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A7ADB4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F4E48-AF9D-483A-B5F8-4412A0C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Obesidad sin lesión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BE6EE-9B72-44D1-97F0-7FDFB990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25146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B2718-6A2C-4D70-A646-1C841A10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BB09C-0598-4301-B9D0-79AE3C56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NAFL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CDA18-A01C-4C83-97AC-613CD77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29050"/>
            <a:ext cx="3143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A71C1-E3E6-4857-9A9D-EF68B7A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90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C99722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DD220-77F7-4C78-9C79-079A5F45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3B1C4-876D-41DC-8668-29F21DB8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0100"/>
            <a:ext cx="3352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17296-D60B-49DF-9361-8122F6AA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72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85838-571B-4C20-9120-26429E4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673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20B84-04E0-4369-95AC-ADD06B0A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62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8233F-F206-4432-82EB-652E1A27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62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B3F6E0-8560-4BB5-A41D-AE40C477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6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3E97E-0F63-4174-9967-BA9AA7E8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6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1038B-DABE-4933-BC75-C4C0C657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Contraste docente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ED039-0C1C-45EB-AB75-03116E70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42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42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F0A64-07D1-4518-8D02-2380DBA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Obesidad con histología</a:t>
            </a:r>
          </a:p>
          <a:p xmlns:a="http://schemas.openxmlformats.org/drawingml/2006/main">
            <a:pPr algn="l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hepática normal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49490-FF0D-4831-87A4-92AD1B79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42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420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5C392-5133-452F-AF25-E4D68D1A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NASH del estudio</a:t>
            </a:r>
          </a:p>
          <a:p xmlns:a="http://schemas.openxmlformats.org/drawingml/2006/main">
            <a:pPr algn="l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NASH ≈ MASH actual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27AA48-E91C-4E45-A58B-08C20DC1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143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66D87-EFB4-450C-B012-D7D69D2F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292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28 muestras analizadas</a:t>
            </a:r>
          </a:p>
        </p:txBody>
      </p:sp>
    </p:spTree>
    <p:extLst>
      <p:ext uri="{BB962C8B-B14F-4D97-AF65-F5344CB8AC3E}">
        <p14:creationId xmlns:p14="http://schemas.microsoft.com/office/powerpoint/2010/main" val="1935683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C7576-09C4-40B4-9703-A6E3A72A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ENTRADA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6E7EFAE-A92B-4400-9E54-48B0C239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Conteos y metadatos describen objetos diferentes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793CE-20FD-4B7F-83F2-8D07A71B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AABEE-2F39-46D0-9DAC-C53C7B0F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29921-6370-4FD2-B86F-5574936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Matriz de conteos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5F714-EC36-43DB-8112-071C6A1C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829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filas: genes</a:t>
            </a:r>
          </a:p>
          <a:p xmlns:a="http://schemas.openxmlformats.org/drawingml/2006/main">
            <a: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columnas: muestras</a:t>
            </a:r>
          </a:p>
          <a:p xmlns:a="http://schemas.openxmlformats.org/drawingml/2006/main">
            <a: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celdas: fragmentos asignados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BECAD-A164-4380-A744-DAA9E082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9814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FF37C-093D-42D4-BF22-10B10A33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44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ENSG000001</a:t>
            </a:r>
          </a:p>
          <a:p xmlns:a="http://schemas.openxmlformats.org/drawingml/2006/main">
            <a:pPr algn="l"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ENSG000002</a:t>
            </a:r>
          </a:p>
          <a:p xmlns:a="http://schemas.openxmlformats.org/drawingml/2006/main">
            <a:pPr algn="l"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ENSG000003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5DD17-6573-4C74-B3B2-5EFDC195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6700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0872   2684   4008</a:t>
            </a:r>
          </a:p>
          <a:p xmlns:a="http://schemas.openxmlformats.org/drawingml/2006/main">
            <a:pPr algn="l">
              <a:defRPr sz="12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  18      94     121</a:t>
            </a:r>
          </a:p>
          <a:p xmlns:a="http://schemas.openxmlformats.org/drawingml/2006/main">
            <a:pPr algn="l">
              <a:defRPr sz="12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 260     532     491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24A2F-01BE-4AF1-9F1A-27FE084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764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0154D-BE25-41D6-A601-67024EDD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Metadatos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AB197-8D39-430E-ADB7-59CDE1AC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3829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una fila por muestra</a:t>
            </a:r>
          </a:p>
          <a:p xmlns:a="http://schemas.openxmlformats.org/drawingml/2006/main">
            <a: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grupo biológico</a:t>
            </a:r>
          </a:p>
          <a:p xmlns:a="http://schemas.openxmlformats.org/drawingml/2006/main">
            <a: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variables del diseño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C8B8E-A8EB-4B66-8DE9-A4D04B1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42100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9B675-DBCB-4590-81DA-6C4CD81C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sample_id   grupo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9650F-A6A7-4FCB-9667-3D2678A7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815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0872          Obeso_sin_MASLD</a:t>
            </a:r>
          </a:p>
          <a:p xmlns:a="http://schemas.openxmlformats.org/drawingml/2006/main">
            <a:pPr algn="l">
              <a:defRPr sz="11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2684          NASH_MASH</a:t>
            </a:r>
          </a:p>
          <a:p xmlns:a="http://schemas.openxmlformats.org/drawingml/2006/main">
            <a:pPr algn="l">
              <a:defRPr sz="11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4008          NASH_MASH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ED73D-ECC0-4F6B-AB8B-1DC90309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La identidad de la muestra une ambos objetos</a:t>
            </a:r>
          </a:p>
        </p:txBody>
      </p:sp>
    </p:spTree>
    <p:extLst>
      <p:ext uri="{BB962C8B-B14F-4D97-AF65-F5344CB8AC3E}">
        <p14:creationId xmlns:p14="http://schemas.microsoft.com/office/powerpoint/2010/main" val="782972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68ECE-C782-4078-9DD5-29ADB20A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PREPARACIÓN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CB8CBD7-25FA-4EB7-B6F7-C974D8FF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instalación ocurre una vez, el análisis muchas veces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8CAE-DA70-46A3-923A-DF33E01F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89AEC-A573-4F51-ADF9-21479A80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A8A66-F743-408D-8B31-FED803EC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D3697-C03A-4C4C-8384-6DD30316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tidyverse</a:t>
            </a:r>
          </a:p>
          <a:p xmlns:a="http://schemas.openxmlformats.org/drawingml/2006/main">
            <a: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pheatmap</a:t>
            </a:r>
          </a:p>
          <a:p xmlns:a="http://schemas.openxmlformats.org/drawingml/2006/main">
            <a: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RColorBrewer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BD06A-AB54-4EB9-A50E-522F7211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Bioconductor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A4D12-F094-4703-A217-B7EB7B78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DESeq2</a:t>
            </a:r>
          </a:p>
          <a:p xmlns:a="http://schemas.openxmlformats.org/drawingml/2006/main">
            <a: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EnhancedVolcano</a:t>
            </a:r>
          </a:p>
          <a:p xmlns:a="http://schemas.openxmlformats.org/drawingml/2006/main">
            <a: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AnnotationDbi</a:t>
            </a:r>
          </a:p>
          <a:p xmlns:a="http://schemas.openxmlformats.org/drawingml/2006/main">
            <a: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org.Hs.eg.db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41E00-878C-4D24-AD05-F86C21DF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38862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79589-D036-4B54-92DC-933A9C61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3276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# Ejecutar una vez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source("scripts/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00_instalar_dependencias.R")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A1F9A-2881-42B7-868F-E50952E0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CFE9D-2680-4492-92AA-F980AC64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81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Comprobar versiones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97FA5-1A96-467B-8ED0-79772B62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1490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El script imprime paquete, estado y versión</a:t>
            </a:r>
          </a:p>
        </p:txBody>
      </p:sp>
    </p:spTree>
    <p:extLst>
      <p:ext uri="{BB962C8B-B14F-4D97-AF65-F5344CB8AC3E}">
        <p14:creationId xmlns:p14="http://schemas.microsoft.com/office/powerpoint/2010/main" val="599488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8634B-EA2D-486A-BF9A-5FA7C299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CONTROL DE IDENTIDAD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0DF511F-99AC-4A71-AA58-490B288F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orden de las muestras debe coincidir exactamente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B6024-4148-4095-8FBB-72DEF632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6E08C-7BAF-4EF4-B2CE-1814A399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F0697-F778-4B4D-A0C2-72CBF5E4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Columnas de conteos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B06D2-2717-41D3-9876-695E3956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Filas de metadatos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50440-65CC-4B03-B3CD-B9D1AA39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33587-03BD-445D-9447-8B8BB3E8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0872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1F138-8F22-4A9A-B999-CA6FCB88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2971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1992C-BFB0-4B98-9017-EC55BB79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83E83-71E8-4F58-9F12-A69327B2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0872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1E889-CE49-4B9E-AC4D-8BB04B77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D5AE7-569A-49B5-ABEF-A81FCF6F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0874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EBF78-5CE2-4F1A-B3BE-E66CC314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2971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3694F-B61C-4E53-804C-46E839C7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39AD0-3607-4722-872B-5FCE8209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0874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875E0-787A-4335-BEDA-AD81847A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E61BB-5B3B-4765-8D85-DB6E0326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2684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C6910-2BB7-49FA-8527-E0465D50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2971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6DC6A-B651-4B0E-9A69-B6496D1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7280E-A929-4D4D-8E4B-8E7482B6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2684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5B0EC-89C7-4BE5-9BA7-5FB59619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8CFFE-9B8E-460C-A082-3717DF11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2688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EE7B5-A92A-4776-976D-7296566D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2971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B221B-1827-4A82-8D5B-4605165C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E8367-F6AF-42A4-9178-A4911559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01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2688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E9369-FC40-45DD-B6C7-1A13FCA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57850"/>
            <a:ext cx="3752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C15FF-0BCA-4359-B986-DD477B17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9595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identical(colnames(conteos), rownames(metadata))</a:t>
            </a:r>
          </a:p>
        </p:txBody>
      </p:sp>
    </p:spTree>
    <p:extLst>
      <p:ext uri="{BB962C8B-B14F-4D97-AF65-F5344CB8AC3E}">
        <p14:creationId xmlns:p14="http://schemas.microsoft.com/office/powerpoint/2010/main" val="974967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D09E6-B00F-480D-B2B8-49166AA6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CALIDAD INICIAL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94980FD-1524-47B2-A657-72ECF612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control de calidad busca muestras incompatibles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89A36-E804-4A02-9F3C-3706AF2B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2FEF2-8519-4E84-A08D-C25B348D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07AA1-E38E-42D1-9455-A712F421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7239000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E72A2-E7AC-4B80-AB76-57336F7B2A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0862b352d4e86"/>
          <a:stretch xmlns:a="http://schemas.openxmlformats.org/drawingml/2006/main"/>
        </p:blipFill>
        <p:spPr>
          <a:xfrm xmlns:a="http://schemas.openxmlformats.org/drawingml/2006/main">
            <a:off x="1549173" y="1752600"/>
            <a:ext cx="5112204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15D83-C90A-4B44-B13F-BDC8BE3D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Preguntas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0A408-3217-4E50-88CF-B74A6F63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143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¿Una muestra tiene muy pocos conteos?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¿El grupo coincide con el identificador?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¿Hay un error técnico evidente?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040B8-6671-4257-8F14-7763C554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32194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3E544-3587-4654-AE77-40866262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Una diferencia de tamaño no equivale a una diferencia biológica global</a:t>
            </a:r>
          </a:p>
        </p:txBody>
      </p:sp>
    </p:spTree>
    <p:extLst>
      <p:ext uri="{BB962C8B-B14F-4D97-AF65-F5344CB8AC3E}">
        <p14:creationId xmlns:p14="http://schemas.microsoft.com/office/powerpoint/2010/main" val="11274333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DA961-9F13-4234-96DB-7F98450B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PREPROCESAMIENTO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8230EAC-4B7D-42A6-BECC-A26F31D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filtrado retira genes con información insuficiente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9E24A-E10A-4B9E-86C3-61B4ACDE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425DB-3184-4AAF-9751-A6C98B32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05F53-6FB2-4DC6-9961-8DE6294B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5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45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pPr>
            <a:r>
              <a:rPr sz="4500" b="1">
                <a:solidFill>
                  <a:srgbClr val="A7ADB4"/>
                </a:solidFill>
                <a:latin typeface="Inter"/>
                <a:ea typeface="Inter"/>
                <a:cs typeface="Inter"/>
              </a:rPr>
              <a:t>19,786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EB35A-0296-4F62-8D5E-07F73E8A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genes originales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C1528-4271-46AB-AF38-4BF6938A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20955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D7027-D1F6-4004-9F3C-8E274803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≥10 conteos</a:t>
            </a:r>
          </a:p>
          <a:p xmlns:a="http://schemas.openxmlformats.org/drawingml/2006/main">
            <a:pPr algn="ctr">
              <a:defRPr sz="16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 ≥5 muestras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8F402-F7C0-4B8B-A893-A924D27A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5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45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45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13,537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152D3-0196-402C-97AD-EF9433C0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genes modelados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2F019-E538-4CCD-BBDA-36902074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582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B4F09-26FE-4C69-9B12-B34D2F00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891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umbral reduce pruebas poco informativas. No es una constante universal y debe declararse.</a:t>
            </a:r>
          </a:p>
        </p:txBody>
      </p:sp>
    </p:spTree>
    <p:extLst>
      <p:ext uri="{BB962C8B-B14F-4D97-AF65-F5344CB8AC3E}">
        <p14:creationId xmlns:p14="http://schemas.microsoft.com/office/powerpoint/2010/main" val="1436601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6207B-78FA-4512-A207-113F858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MODELO ESTADÍSTICO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94C9750-ED54-4E64-AA3B-AF88DB1C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DESeq2 separa profundidad técnica y variación biológica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4C13A-E30E-4608-8FB8-A8E06104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138C5-6009-40A7-9F8C-1F04F339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C7FAF-C213-466E-8AE4-9D4EEC3A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23431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C171A-BF59-417B-87CD-1039ED01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768DA-A5C3-4E2D-9AD3-96E5EE18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2E2AB-0B4B-4F93-8FF4-D9EE88D0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Conteos crudos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A14C5-78F5-44B3-8CE7-33DA4E8C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entrada entera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693C6-2D76-4919-8D14-1AE737D2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575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A6F6D-1546-439C-AA07-0427057D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23431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9FDC1-E99C-45AD-B254-0D4A790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2F3FA-939A-4A86-8FD2-495EA100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FE3B3-A175-4A87-9EB5-015F670A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Factor de tamaño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91CCE-DFAA-4C41-A49C-77BAF793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profundidad relativa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F512E-C515-4F38-A90A-E3218E8F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575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81AC7-4C23-416F-ADA2-C72DACF7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23431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5F95B-0D7B-4387-9FA7-50B7E55D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ADB62-BB72-45DC-B42D-1276ADD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F1443-946D-412E-BCFF-97F51374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Dispersión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A43C1-BB90-4D95-86FA-3E05C7B9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variación entre personas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9C35B-A52F-4E69-83A8-81C41AB4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ED372-67CF-4B80-82C0-634FE22B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23431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4C84C-E391-4CD4-8133-978A79E4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72CFF-6BEC-45D0-BED2-A9AAA50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33251-FFE2-4FB5-A404-ADED3619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Contraste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56FD4-0FF0-43D3-A81E-C0A104BD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efecto + incertidumbre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97881D-B4FF-4B6E-B4DE-41B3798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29150"/>
            <a:ext cx="548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Modelo binomial negativo por gen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57273-DDBB-460B-AC03-C747C39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76850"/>
            <a:ext cx="640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Los conteos transformados se reservan para PCA y heatmap</a:t>
            </a:r>
          </a:p>
        </p:txBody>
      </p:sp>
    </p:spTree>
    <p:extLst>
      <p:ext uri="{BB962C8B-B14F-4D97-AF65-F5344CB8AC3E}">
        <p14:creationId xmlns:p14="http://schemas.microsoft.com/office/powerpoint/2010/main" val="1732809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69273-A318-4147-81F0-2F5CC396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EXPLORACIÓN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91E950EF-3F2A-4CC5-9803-C5D3E04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PCA resume similitudes globales entre muestras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9E06B-C094-4361-9F57-9D1BFF7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B7C84-87FE-499E-8F67-495689DF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C66A-110F-4DC7-B6D0-68475EFC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710565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AC559-BEF4-46AE-AF34-C8C9815D64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388cc6b7e4b95"/>
          <a:stretch xmlns:a="http://schemas.openxmlformats.org/drawingml/2006/main"/>
        </p:blipFill>
        <p:spPr>
          <a:xfrm xmlns:a="http://schemas.openxmlformats.org/drawingml/2006/main">
            <a:off x="1295400" y="1790700"/>
            <a:ext cx="5562600" cy="417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DB89A-4459-438C-B6FC-69B1017E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Cómo leerla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E38AE-1EA9-43A0-8FDB-CDC30B8B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Puntos cercanos tienen perfiles globales parecidos.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Separación parcial puede coexistir con heterogeneidad.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La PCA no prueba significancia por gen.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AFFCA-2182-4328-B3B2-08DEFE81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F3D53-85A8-4378-977F-C086066C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244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VST, no conteos crudos</a:t>
            </a:r>
          </a:p>
        </p:txBody>
      </p:sp>
    </p:spTree>
    <p:extLst>
      <p:ext uri="{BB962C8B-B14F-4D97-AF65-F5344CB8AC3E}">
        <p14:creationId xmlns:p14="http://schemas.microsoft.com/office/powerpoint/2010/main" val="9282575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FC208-CB4E-46DB-9921-67F8F41C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DIRECCIÓN DEL EFECTO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1EC5012C-1F57-42C5-A275-EDE7E663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signo del log2FC depende del orden del contraste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3307D-5323-4B4B-A34F-80598D00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0D0C1-8CDF-48CF-B057-9A82054B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FE208-389A-4F1F-A41E-443A56BC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4191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349B5-85A9-40EA-B5D3-93C9FFD0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Numerador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65052-1464-4B4B-9F2E-4536849B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NASH_MASH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50FD0-12D0-4E0B-A018-76B568D4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78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CFDFD-C6EC-45AC-837F-9ABC62B0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05000"/>
            <a:ext cx="4191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B9FAB-178F-4A7B-B5ED-7843A28E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Referencia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6608F-E6FB-426D-AB02-EF835C36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Obeso_sin_MASLD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55BCE-7D9D-48DC-9A9D-166440A5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log2FC = +1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6B77D-90AD-4265-A42C-0DA8FE2B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2 veces mayor en MASH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B97C1-2CEC-48ED-9F19-DECD2301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671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A7ADB4"/>
                </a:solidFill>
                <a:latin typeface="Inter"/>
                <a:ea typeface="Inter"/>
                <a:cs typeface="Inter"/>
              </a:rPr>
              <a:t>log2FC 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12C82-2D1E-473A-A326-4F724CA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577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sin diferencia estimada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A0EA2-A064-416B-BEEC-B2176E97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log2FC = −1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0EE5A-BBAA-4520-83F8-812691CC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mitad en MASH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F1683-C30C-4D16-8A6D-0B6E2B61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10200"/>
            <a:ext cx="670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5B1B2-13B7-429D-A55C-61C4D8AD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57825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results(dds, contrast = c("grupo", "NASH_MASH", "Obeso_sin_MASLD"))</a:t>
            </a:r>
          </a:p>
        </p:txBody>
      </p:sp>
    </p:spTree>
    <p:extLst>
      <p:ext uri="{BB962C8B-B14F-4D97-AF65-F5344CB8AC3E}">
        <p14:creationId xmlns:p14="http://schemas.microsoft.com/office/powerpoint/2010/main" val="17987882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D7B3A-EBE1-4B90-B5E5-98D2CCBF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INFERENCIA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9824D29D-C30A-467E-97A2-8DA2ECDC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Miles de pruebas exigen controlar falsos descubrimientos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476CB-B991-4E0E-82DF-B7DFB679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2178B-F0E2-4C0A-87E2-F50DC039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4DE76-D0A1-4C4A-BC05-AEC43C16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52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525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13,537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5B8F-739E-4455-9FC0-76998CF1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genes evaluados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1B757-6014-4B73-9795-E0D39B00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16764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4EA43-1260-47F1-B4CB-AC399DA5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Benjamini</a:t>
            </a:r>
          </a:p>
          <a:p xmlns:a="http://schemas.openxmlformats.org/drawingml/2006/main">
            <a:pPr algn="ctr">
              <a:defRPr sz="22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Hochberg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4C943-7533-471E-87E4-78F3B46A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1143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B5168-4D40-4F9F-898A-7F33B318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550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padj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FF532-467A-4E32-831D-5CA8C5A2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572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35F63-C198-4AB4-8A05-4EF8EA60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A7ADB4"/>
                </a:solidFill>
                <a:latin typeface="Inter"/>
                <a:ea typeface="Inter"/>
                <a:cs typeface="Inter"/>
              </a:rPr>
              <a:t>pvalue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78003-B800-475D-B155-4F59D807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evidencia por un 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B17EB-2F37-487D-8B5C-3842B91B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4572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083EE-9D0E-48C9-902B-E5324A3B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padj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EA928-62B6-4AB3-B9E1-F134DE4C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291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evidencia ajustada por la familia de pruebas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AB3F2-B39A-4663-8AAE-4C59A9B7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62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Corte docente: padj &lt; 0.05</a:t>
            </a:r>
          </a:p>
        </p:txBody>
      </p:sp>
    </p:spTree>
    <p:extLst>
      <p:ext uri="{BB962C8B-B14F-4D97-AF65-F5344CB8AC3E}">
        <p14:creationId xmlns:p14="http://schemas.microsoft.com/office/powerpoint/2010/main" val="15123154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26884-8221-43E1-B337-E986A5A6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LECTURA DEL GRÁFICO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D328505B-7419-449E-B5C7-C34EFF31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volcano combina magnitud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69281-119C-4191-8123-B107F427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9510D-0ED7-4EE3-AE62-20898684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56C7A-8152-4873-B8FF-4588B52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81025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AF01E-ADB8-4B9F-BD07-1B33EC5AB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462edbd524d67"/>
          <a:stretch xmlns:a="http://schemas.openxmlformats.org/drawingml/2006/main"/>
        </p:blipFill>
        <p:spPr>
          <a:xfrm xmlns:a="http://schemas.openxmlformats.org/drawingml/2006/main">
            <a:off x="1128032" y="1866900"/>
            <a:ext cx="4849586" cy="3771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B8002-2F28-4ED7-A80D-AF9F1B77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Eje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17192-9749-4912-BF85-340EA2B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log2FC: dirección y magnitud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09F8E-55BF-4F3B-9654-F276F155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Eje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4730C-5111-4558-BFE6-FFF1FD17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−log10(padj): evidencia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27B25-C05E-460B-A27A-7ED0953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005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C99722"/>
                </a:solidFill>
                <a:latin typeface="Inter"/>
                <a:ea typeface="Inter"/>
                <a:cs typeface="Inter"/>
              </a:rPr>
              <a:t>Cortes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FE520-8A77-480A-AB58-DAC8B1FE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624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padj &lt; 0.05</a:t>
            </a:r>
          </a:p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|log2FC| ≥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712D2-6441-4B32-AF0A-D05EB507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95900"/>
            <a:ext cx="3314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0E930-5012-492E-BF01-14A2D543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149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Arriba y lejos del centro</a:t>
            </a:r>
          </a:p>
        </p:txBody>
      </p:sp>
    </p:spTree>
    <p:extLst>
      <p:ext uri="{BB962C8B-B14F-4D97-AF65-F5344CB8AC3E}">
        <p14:creationId xmlns:p14="http://schemas.microsoft.com/office/powerpoint/2010/main" val="10681718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77B01-284B-4313-95D8-42B21C4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RESULTADO REAL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C30BCED1-BF08-4544-8A16-BCAE4904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contraste detecta cambios amplios en el tejido hepático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432C1-A554-4501-9526-5C229205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68B96-2311-4B46-856F-92D4C9E3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355BD-718C-4DE3-9834-B347FE3EB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c046852c544f2"/>
          <a:stretch xmlns:a="http://schemas.openxmlformats.org/drawingml/2006/main"/>
        </p:blipFill>
        <p:spPr>
          <a:xfrm xmlns:a="http://schemas.openxmlformats.org/drawingml/2006/main">
            <a:off x="1277711" y="1485900"/>
            <a:ext cx="6417129" cy="4991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B5529-C93E-4B06-BD28-D4124BDB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40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386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CC9B5-ACC3-4323-B738-CCCE8B80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mayores en MASH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36C57-DDE8-448B-AA24-19995F83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40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290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13F13-BAE3-4621-9439-50EFDFF3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053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menores en MASH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34E7E-064C-4FC3-9F25-2ACE8805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19700"/>
            <a:ext cx="25336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415FC-3102-47DE-B388-4140F936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149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676 genes cumplen</a:t>
            </a:r>
          </a:p>
          <a:p xmlns:a="http://schemas.openxmlformats.org/drawingml/2006/main">
            <a:pPr algn="ctr">
              <a:defRPr sz="14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ambos cortes</a:t>
            </a:r>
          </a:p>
        </p:txBody>
      </p:sp>
    </p:spTree>
    <p:extLst>
      <p:ext uri="{BB962C8B-B14F-4D97-AF65-F5344CB8AC3E}">
        <p14:creationId xmlns:p14="http://schemas.microsoft.com/office/powerpoint/2010/main" val="12339933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71C04-1ED7-4505-BC35-3CF65991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RESULTADO REAL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3300445F-55CE-4591-88FE-92911D3C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heatmap revela el patrón entre muestras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DD1E0-92E7-4D8C-8439-1F4385E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03172-A953-4292-91D3-0FC2F7A5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5B957-1BB0-4E99-8906-715CBDF6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847725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E42D9-5C1A-4BD9-8087-C21DE8FF6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fb437ebfc473d"/>
          <a:stretch xmlns:a="http://schemas.openxmlformats.org/drawingml/2006/main"/>
        </p:blipFill>
        <p:spPr>
          <a:xfrm xmlns:a="http://schemas.openxmlformats.org/drawingml/2006/main">
            <a:off x="1527464" y="1676400"/>
            <a:ext cx="6260523" cy="4591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5F975-F051-4910-AA81-5CE620B2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Cada fila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E3BA5-9A2B-4D6D-86FD-6E466D44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un 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B67F4-6DB6-4933-B668-454817A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Cada columna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070AB-4D32-4184-927B-0607902D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una biopsia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DC292-0571-4BA7-9668-3B75D0E5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C99722"/>
                </a:solidFill>
                <a:latin typeface="Inter"/>
                <a:ea typeface="Inter"/>
                <a:cs typeface="Inter"/>
              </a:rPr>
              <a:t>Color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AF0CC-4820-43F7-8823-0723B515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z-score por 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59489-3C06-4035-AE2E-C7AAFF72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72050"/>
            <a:ext cx="23241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3FAC5-B8DF-40A8-9256-DA5570D5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054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Compare muestras</a:t>
            </a:r>
          </a:p>
          <a:p xmlns:a="http://schemas.openxmlformats.org/drawingml/2006/main">
            <a:pPr algn="ctr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dentro de cada gen</a:t>
            </a:r>
          </a:p>
        </p:txBody>
      </p:sp>
    </p:spTree>
    <p:extLst>
      <p:ext uri="{BB962C8B-B14F-4D97-AF65-F5344CB8AC3E}">
        <p14:creationId xmlns:p14="http://schemas.microsoft.com/office/powerpoint/2010/main" val="73683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9B99B5-AC0A-4113-88B9-F85A0122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INTERPRETACIÓN CRÍTICA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C12EA9D2-A9BE-461B-B2D8-907302BC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señal del tejido total mezcla mecanismos y composición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5E713-0657-418D-BE09-907F5C50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E7E6E-0894-4059-8379-723CB5C2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06D49-1F70-4959-AA8B-A7F27DD7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5C7F3-B4F6-492B-8CD3-BE28E331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AC9A9-AB75-449E-91FD-47876665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526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Estado celular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A34A3-7CF0-4449-B266-2464FA06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526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un hepatocito cambia su programa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0C805-7437-4F11-A514-E88BD0D1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8E75E-5B82-4B64-AE5B-38842CCF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A6AEA-5C30-4E01-8FC2-C5D40749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4F2E1-E238-46B6-8BB4-AEB63C69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Composición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30992-54F2-4AA4-B448-5CAEE73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479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aumenta o disminuye un tipo celular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99ADC-8B5E-4257-B3B5-5F288A4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040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60C18-CBAF-4FE2-9069-5B8450A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F8AB5-5B90-47CF-9042-9A8AB126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0FAE8-E9E8-4746-8FF5-C3133CF4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Covariables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5F04F-436F-4C20-85EF-2EC56807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sexo, severidad y otros factores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76040-BB13-4788-996E-CFC10D67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7BF93-A7BA-4915-BF80-8C2391D8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A9D9A-A131-462A-A0C0-61B153BD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F5B46-7309-40A6-BEFD-3F549577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Causalidad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CB188-0902-4975-8746-735F37E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ARN asociado no demuestra mecanismo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47F6B-79B3-43B6-BF2E-5B0326EF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5BF83-F476-4EC6-A56C-7748BDFF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43550"/>
            <a:ext cx="8534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7BDD7-4869-4D6A-89C6-0842A753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00700"/>
            <a:ext cx="807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Conclusión correcta: asociación transcriptómica que genera hipótesis</a:t>
            </a:r>
          </a:p>
        </p:txBody>
      </p:sp>
    </p:spTree>
    <p:extLst>
      <p:ext uri="{BB962C8B-B14F-4D97-AF65-F5344CB8AC3E}">
        <p14:creationId xmlns:p14="http://schemas.microsoft.com/office/powerpoint/2010/main" val="1555311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EC2CB-F64B-4113-AB1C-6C7DCAD0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APLICACIÓN AUTÓNOMA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C02583AD-AE16-4428-8313-AAC49340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tarea replica el razonamiento en un dataset distinto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F0192-40C3-4610-B7DC-F23AD5EC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604A4-D50E-4F87-B5C4-69E0392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892BD-35B7-4EDB-9F26-2FD7EE8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Obligatorio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9B28C-8597-4116-AA15-B04FB31E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8958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RNA-seq bulk con conteos crudos</a:t>
            </a:r>
          </a:p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dos grupos y ≥3 réplicas por grupo</a:t>
            </a:r>
          </a:p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script, metadata y tabla completa</a:t>
            </a:r>
          </a:p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volcano plot interpretado</a:t>
            </a:r>
          </a:p>
          <a:p xmlns:a="http://schemas.openxmlformats.org/drawingml/2006/main">
            <a: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sessionInfo.txt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54237-8AE4-4915-86AD-042F46D0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335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Opcional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99ED2-8B53-490B-9A5E-B88311D1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095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Heatmap de 20 a 40 genes</a:t>
            </a:r>
          </a:p>
          <a:p xmlns:a="http://schemas.openxmlformats.org/drawingml/2006/main">
            <a:pPr algn="l"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con datos transformados,</a:t>
            </a:r>
          </a:p>
          <a:p xmlns:a="http://schemas.openxmlformats.org/drawingml/2006/main">
            <a:pPr algn="l"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z-score por gen y anotación</a:t>
            </a:r>
          </a:p>
          <a:p xmlns:a="http://schemas.openxmlformats.org/drawingml/2006/main">
            <a:pPr algn="l"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de los grupos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18995-832F-40BF-BB37-742898C0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86250"/>
            <a:ext cx="4572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5AD1D-7BBB-46E4-BF40-498FAFF6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No usar TPM, FPKM ni matriz de célula única como entrada a DESeq2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C4F36-0840-45CF-9414-C81F30D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363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8D214-7EDD-4770-B431-7E79376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34025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Pregunta final: ¿qué parte del patrón pertenece a las células y qué parte a la mezcla del tejido?</a:t>
            </a:r>
          </a:p>
        </p:txBody>
      </p:sp>
    </p:spTree>
    <p:extLst>
      <p:ext uri="{BB962C8B-B14F-4D97-AF65-F5344CB8AC3E}">
        <p14:creationId xmlns:p14="http://schemas.microsoft.com/office/powerpoint/2010/main" val="1779536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2026-10-08T14:14:46.5740000Z</dcterms:created>
  <dcterms:modified xsi:type="dcterms:W3CDTF">2026-10-08T14:14:46.5740000Z</dcterms:modified>
</coreProperties>
</file>